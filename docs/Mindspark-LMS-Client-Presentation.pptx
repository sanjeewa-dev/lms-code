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2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718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Mindspark is the AI-first LMS for institutes and tutors - teach, collect fees, and catch at-risk students before they drop, under your own brand.
Set expectations: 15-20 minutes, then a live walkthrough of their institute flow.
Ask up front: how many students / batches, how are fees collected today, where do materials live now (WhatsApp, Drive, Zoom)?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quick. The goal is to let the owner know where their key questions (fees, branding, parents) will be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back what they told you on slide 1. Most institutes recognise at least three of these four.
Do not bash their current tools - the point is fragmentation, not that WhatsApp or Zoom are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 are the backbone of the deck: Teach, Operate, Improve.
Emphasise "your own brand": students and parents see the institute, not Mindspark.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mock-up on the right - in the live demo show the real landing page of the demo institute.
Branding is included for every institute; no separate white-label fee for logo and landing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protection is the usual "wow" for owners who have had notes leak. Mention it is server-side rendering with watermark, not just a disabled right-click.
Live class: Jitsi works in-browser with no licence; institutes that already pay for Zoom can keep using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they handle monthly fees today. Most owners immediately see the value of slip upload plus approval.
ID cards with QR are popular with multi-branch institutes.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owner slide. Walk the five steps slowly.
Grace days: for example access continues until the 7th of the month, then locks until the slip is approved.
PayHere is optional - institutes can start with bank slips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owner: fewer "sir, I did not understand" messages at 10 pm; students self-serve first.
Quotas matter for owners worried about open-ended AI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moment: generate a 10-question quiz from a pasted paragraph, then publish it live.
Weak-topic analysis is the bridge to the next slide on at-risk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is revenue: every student who drops is lost monthly fees. This is the business case for intervention.
Parents never need an account - the link is tenant-scoped, expires, and shows read-only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plain-language for owners; offer a technical deep-dive session for their IT contact if needed.
Be honest about the limits of content protection - it builds trust and avoids a later complaint.
Technical backing: row-level tenantId with an auto-scoping data client, JWT access + refresh, bcrypt, helmet, express-rate-limit, zod validation, server-rendered watermarked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are comparing with Google Classroom or a Zoom + Drive setup: fees, branding and parent visibility are the gaps those tools do not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contact placeholders before sending the deck.
Close by proposing a date for the live demo and asking who else should be in the room (head teacher, accounts).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566160"/>
            <a:ext cx="3108960" cy="310896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943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64922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94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669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38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institute.</a:t>
            </a:r>
            <a:endParaRPr lang="en-US" sz="38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learning.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smarter. Teach clearer.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04164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AI-first learning platform for institutes and tutors: classes, live teaching, assessments, fees, and AI tools in one branded space.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201168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12280" y="213969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2578608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12280" y="270662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25786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75120" y="3145536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12280" y="327355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31455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6863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prepared for prospective partner institutes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tour of the product from the institute owner's point of view, then a live demo.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0391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" y="23042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institutes outgrow WhatsApp, Drive and spreadsheets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3000" y="28620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at a glance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3127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branded platform: Teach, Operate, Improve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36850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43000" y="39502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hub, protected materials, live class, quizzes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5488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9240" y="20391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and fees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49240" y="23042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Enrollment, attendance, bank slips and PayHere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5488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49240" y="28620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early intervention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49240" y="3127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Study, AI Copilot, at-risk, parent trust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54880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49240" y="36850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next steps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349240" y="39502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isolation, content protection, pilot plan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566160"/>
            <a:ext cx="3108960" cy="310896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pic>
        <p:nvPicPr>
          <p:cNvPr id="5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juggle too many tools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14173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Teaching, content, live classes, fee collection and parent updates usually live in five different apps - with no single view of who is falling behind.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49424"/>
            <a:ext cx="54864" cy="4023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9456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leak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Notes shared as files on WhatsApp or Drive get forwarded freely - your content walks out the door.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816352"/>
            <a:ext cx="54864" cy="4023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76148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are a chase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Bank transfers tracked by hand; slips arrive on chat, approvals get missed, revenue is unclear.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4864" cy="4023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32841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attendance, missing work and weak quiz scores are only noticed at exam time.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3950208"/>
            <a:ext cx="54864" cy="4023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89534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in the dark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Guardians ask for updates by phone; there is no trusted, up-to-date view of progress.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IN ONE SENTENCE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AI-first LMS for institutes and tutors - under your own brand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collect fees, and catch at-risk students before they drop. Each institute gets its own fully isolated branded space on one scalable platform.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2572512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4963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441448"/>
            <a:ext cx="2252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1520" y="2642616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026664"/>
            <a:ext cx="2252472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batches, protected materials, live rooms, quizzes, assignments, gradebook and recorded lessons in one class hub.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85744" y="2331720"/>
            <a:ext cx="2572512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85744" y="24963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68624" y="2441448"/>
            <a:ext cx="2252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468624" y="2642616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68624" y="3026664"/>
            <a:ext cx="2252472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approvals, attendance, monthly fees via bank slip or PayHere, student ID cards, notices and institute branding.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22848" y="2331720"/>
            <a:ext cx="2572512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22848" y="24963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05728" y="2441448"/>
            <a:ext cx="2252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05728" y="2642616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05728" y="3026664"/>
            <a:ext cx="2252472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for students, AI Copilot for teachers, at-risk detection with an intervention timeline, and a Parent Trust Center.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institute, your brand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landing page at your own address, with your logo, notices, events and open lessons - plus one-click student registration.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9456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URL for the institute (for example yourdomain.com/your-institute)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and institute name across every screen and email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landing page: notices, events, public video lessons, Register and Sign in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self-registration, invite links and class join tokens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settings: bank details, monthly fee rules, self-enrollment on or off, PayHere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114300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9240" y="1143000"/>
            <a:ext cx="324612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58968" y="1252728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14416" y="1252728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9864" y="125272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216152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121615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yourdomain.com/your-institute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358384" y="1472184"/>
            <a:ext cx="3227832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32120" y="1618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007608" y="1600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Institute Name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07608" y="18196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- Live sessions - Notices - Events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007608" y="2075688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07608" y="207568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793992" y="2075688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0F172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93992" y="207568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532120" y="2587752"/>
            <a:ext cx="2880360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41848" y="26060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 timetable published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532120" y="3172968"/>
            <a:ext cx="2880360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41848" y="319125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meeting - Sat 10:00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32120" y="3758184"/>
            <a:ext cx="2880360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41848" y="37764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lessons</a:t>
            </a:r>
            <a:endParaRPr lang="en-US" sz="80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Algebra - watch free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1 - TEACH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class needs in one hub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run the whole class from one place; students see only what they are enrolled 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572512" cy="1266444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0391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98424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materials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2311732"/>
            <a:ext cx="225247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and notes rendered page by page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Watermarked, view-only in the browser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files are never downloadable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85744" y="1874520"/>
            <a:ext cx="2572512" cy="1293876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85744" y="20391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68624" y="198424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live class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68624" y="2345436"/>
            <a:ext cx="225247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live </a:t>
            </a:r>
            <a:r>
              <a:rPr lang="en-US" sz="9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extra account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Google Meet, Teams links supported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when a session goes live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22848" y="1874520"/>
            <a:ext cx="2572512" cy="1266444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22848" y="20391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5728" y="198424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05728" y="2345436"/>
            <a:ext cx="225247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builder with AI-assisted generation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Timed, single attempt, auto-graded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and per-question review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3305556"/>
            <a:ext cx="2572512" cy="1266444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4701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341528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1520" y="3777410"/>
            <a:ext cx="225247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upload submissions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download, grade and give feedback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85744" y="3305556"/>
            <a:ext cx="2572512" cy="1266444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85744" y="34701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8624" y="341528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3468624" y="3774245"/>
            <a:ext cx="225247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views per class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weak performers in one click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 reports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022848" y="3305556"/>
            <a:ext cx="2572512" cy="1266444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22848" y="34701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05728" y="341528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and announcements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205728" y="3770611"/>
            <a:ext cx="238963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lessons (YouTube, Vimeo, URL)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Visibility: everyone, class or batch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and events, pinned on landing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2 - OPERATE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institute without spreadsheets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admin lives in the same system as teaching, so nothing has to be re-typed or chased.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874519"/>
            <a:ext cx="3941064" cy="1266445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0391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984248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and roster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251826"/>
            <a:ext cx="3621024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self-register or join via invite / class link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enrollments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cards with QR code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contact details on file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54296" y="1874520"/>
            <a:ext cx="3941064" cy="1266444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4296" y="20391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37176" y="1984248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37176" y="2242566"/>
            <a:ext cx="3621024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presence per session in seconds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per student and per class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at-risk signal automatically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305555"/>
            <a:ext cx="3941064" cy="1266445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4701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41528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payments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3671316"/>
            <a:ext cx="3621024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fee and monthly fees per class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slip upload with staff approval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PayHere online checkout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days and reminders configurable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54296" y="3305556"/>
            <a:ext cx="3941064" cy="1266444"/>
          </a:xfrm>
          <a:prstGeom prst="roundRect">
            <a:avLst>
              <a:gd name="adj" fmla="val 5776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54296" y="34701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37176" y="341528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37176" y="3671316"/>
            <a:ext cx="3621024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 between staff and students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and events with audience targeting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for key moments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566160"/>
            <a:ext cx="3108960" cy="310896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pic>
        <p:nvPicPr>
          <p:cNvPr id="5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REVENUE VISIBILITY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"fee due" to "approved" in one tracked flow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1417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is tied to a student, a class and a month - so you always know who has paid, who is pending and who is overdue.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1448410" cy="1463040"/>
          </a:xfrm>
          <a:prstGeom prst="roundRect">
            <a:avLst>
              <a:gd name="adj" fmla="val 5051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2578608"/>
            <a:ext cx="12289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class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8368" y="2834640"/>
            <a:ext cx="122895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enrollment fee and/or monthly fee. Free classes activate instantly.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033626" y="2743200"/>
            <a:ext cx="128016" cy="1828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98218" y="2103120"/>
            <a:ext cx="1448410" cy="1463040"/>
          </a:xfrm>
          <a:prstGeom prst="roundRect">
            <a:avLst>
              <a:gd name="adj" fmla="val 5051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35378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35378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07946" y="2578608"/>
            <a:ext cx="12289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307946" y="2834640"/>
            <a:ext cx="122895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classes stay pending until payment is confirmed.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83203" y="2743200"/>
            <a:ext cx="128016" cy="1828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47795" y="2103120"/>
            <a:ext cx="1448410" cy="1463040"/>
          </a:xfrm>
          <a:prstGeom prst="roundRect">
            <a:avLst>
              <a:gd name="adj" fmla="val 5051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84955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84955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957523" y="2578608"/>
            <a:ext cx="12289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957523" y="2834640"/>
            <a:ext cx="122895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bank transfer slip, or pay online via PayHere.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332781" y="2743200"/>
            <a:ext cx="128016" cy="1828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97373" y="2103120"/>
            <a:ext cx="1448410" cy="1463040"/>
          </a:xfrm>
          <a:prstGeom prst="roundRect">
            <a:avLst>
              <a:gd name="adj" fmla="val 5051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34533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34533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07101" y="2578608"/>
            <a:ext cx="12289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approve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607101" y="2834640"/>
            <a:ext cx="122895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 teacher approves or rejects with one click; student is notified.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982358" y="2743200"/>
            <a:ext cx="128016" cy="1828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46950" y="2103120"/>
            <a:ext cx="1448410" cy="1463040"/>
          </a:xfrm>
          <a:prstGeom prst="roundRect">
            <a:avLst>
              <a:gd name="adj" fmla="val 5051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84110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84110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256678" y="2578608"/>
            <a:ext cx="12289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unlocks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256678" y="2834640"/>
            <a:ext cx="122895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live class and quizzes open; monthly rules keep access current.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864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rules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requires the current month approved, or within configurable grace days.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29184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reminders and parent digests go out automatically from Smart Ops.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035040" y="3749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payments and revenue items appear on the admin home every day.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3 - IMPROVE (STUDENTS)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Study: on-demand help for every student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class-scoped Smart Learning Workspace. Students get help the moment they are stuck, not at the next live session.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2572512" cy="900684"/>
          </a:xfrm>
          <a:prstGeom prst="roundRect">
            <a:avLst>
              <a:gd name="adj" fmla="val 812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13055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07568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chat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270291"/>
            <a:ext cx="2252472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Q&amp;A on concepts from the selected class, with clear sectioned answers.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85744" y="1965960"/>
            <a:ext cx="2572512" cy="900684"/>
          </a:xfrm>
          <a:prstGeom prst="roundRect">
            <a:avLst>
              <a:gd name="adj" fmla="val 812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85744" y="213055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68624" y="207568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summarizer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68624" y="2267712"/>
            <a:ext cx="2252472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notes (PDF, Word, TXT) and get key points in seconds.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22848" y="1965960"/>
            <a:ext cx="2572512" cy="900684"/>
          </a:xfrm>
          <a:prstGeom prst="roundRect">
            <a:avLst>
              <a:gd name="adj" fmla="val 812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22848" y="213055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5728" y="207568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generator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05728" y="2270291"/>
            <a:ext cx="2252472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from a topic or notes, with the next question on demand.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031236"/>
            <a:ext cx="2572512" cy="900684"/>
          </a:xfrm>
          <a:prstGeom prst="roundRect">
            <a:avLst>
              <a:gd name="adj" fmla="val 812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19582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314096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3358134"/>
            <a:ext cx="2252472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topic or notes into flip-style revision cards.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85744" y="3031236"/>
            <a:ext cx="2572512" cy="900684"/>
          </a:xfrm>
          <a:prstGeom prst="roundRect">
            <a:avLst>
              <a:gd name="adj" fmla="val 812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85744" y="319582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8624" y="314096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study plan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468624" y="3351276"/>
            <a:ext cx="2252472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plan from subject, unit and topic ahead of a test.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22848" y="3031236"/>
            <a:ext cx="2572512" cy="900684"/>
          </a:xfrm>
          <a:prstGeom prst="roundRect">
            <a:avLst>
              <a:gd name="adj" fmla="val 812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22848" y="319582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05728" y="314096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the class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205728" y="3351276"/>
            <a:ext cx="2252472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is scoped to the selected class, so answers stay relevant to what the student is studying.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4133088"/>
            <a:ext cx="457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40233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controlled: AI is available only to actively enrolled students, history is saved per student, and each institute has a monthly AI quota - so costs stay predictable.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3 - IMPROVE (TEACHERS)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Copilot: prep in minutes, support the right students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prep and intervention scale with class size, so teachers spend time teaching instead of writing quizzes and feedback.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888236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2677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1284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596896"/>
            <a:ext cx="156819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MCQs from a topic or lesson notes, review, then publish straight into a class quiz.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01468" y="2103120"/>
            <a:ext cx="1888236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1468" y="22677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84348" y="221284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drafter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84348" y="2596896"/>
            <a:ext cx="156819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Rubric-style constructive feedback with a suggested grade, strengths and improvements.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54296" y="2103120"/>
            <a:ext cx="1888236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54296" y="22677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37176" y="221284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analysis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37176" y="2596896"/>
            <a:ext cx="156819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Class-wide quiz analysis: which topics students struggle with and where to focus next.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707124" y="2103120"/>
            <a:ext cx="1888236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07124" y="22677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90004" y="221284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radar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90004" y="2596896"/>
            <a:ext cx="156819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at-risk students with suggested next actions, ordered by priority.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4133088"/>
            <a:ext cx="457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40233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see only their own classes; institute admins can use Copilot on any class. Every generated item is saved in a per-tool history for reuse.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566160"/>
            <a:ext cx="3108960" cy="310896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pic>
        <p:nvPicPr>
          <p:cNvPr id="5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at-risk students before they drop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1417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already in the system - attendance, submissions and quiz scores - turn into a short list, a follow-up record and a trusted update for parents.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2548128" cy="1508760"/>
          </a:xfrm>
          <a:prstGeom prst="roundRect">
            <a:avLst>
              <a:gd name="adj" fmla="val 4848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2578608"/>
            <a:ext cx="2328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8368" y="2834640"/>
            <a:ext cx="23286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panel flags students with low attendance, missing work or weak quiz scores (for example last 30 days).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33344" y="2766060"/>
            <a:ext cx="128016" cy="1828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7936" y="2103120"/>
            <a:ext cx="2548128" cy="1508760"/>
          </a:xfrm>
          <a:prstGeom prst="roundRect">
            <a:avLst>
              <a:gd name="adj" fmla="val 4848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35096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35096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07664" y="2578608"/>
            <a:ext cx="2328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407664" y="2834640"/>
            <a:ext cx="23286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log interventions and track them: open, in progress, resolved or escalated.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82640" y="2766060"/>
            <a:ext cx="128016" cy="1828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47232" y="2103120"/>
            <a:ext cx="2548128" cy="1508760"/>
          </a:xfrm>
          <a:prstGeom prst="roundRect">
            <a:avLst>
              <a:gd name="adj" fmla="val 4848"/>
            </a:avLst>
          </a:prstGeom>
          <a:solidFill>
            <a:srgbClr val="172033"/>
          </a:solidFill>
          <a:ln w="9525">
            <a:solidFill>
              <a:srgbClr val="2A36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84392" y="223113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84392" y="2231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56960" y="2578608"/>
            <a:ext cx="23286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parents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156960" y="2834640"/>
            <a:ext cx="23286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Trust Center: a time-limited, no-login link showing attendance, quiz results and fee status.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3950208"/>
            <a:ext cx="457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38404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also see an AI study coach on their own dashboard with their weak topics and a one-click path into AI Study - so the student, the teacher and the parent all see the same picture.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DATA PROTECTION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isolated and protected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institutes share one platform, but each institute's data is walled off and every request is checked against the signed-in user's institute and role.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2572512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13055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07568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institute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19" y="2283714"/>
            <a:ext cx="232116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tagged to one institute and the data layer enforces that scope automatically on every read and write - the core guard against cross-institute leakage.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85744" y="1965960"/>
            <a:ext cx="2572512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85744" y="213055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68624" y="207568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67452" y="2304288"/>
            <a:ext cx="2252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teacher and student roles with short-lived access tokens plus refresh tokens. A request for another institute is rejected even with a valid login.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22848" y="1965960"/>
            <a:ext cx="2572512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22848" y="213055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5728" y="2075688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platform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05728" y="2302178"/>
            <a:ext cx="2252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salted hashes, security headers on every response, request rate limiting, and input validation on the API.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3191256"/>
            <a:ext cx="2572512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3558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330098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protection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" y="3529584"/>
            <a:ext cx="2252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are rendered server-side into watermarked pages; originals are never served and download, right-click and drag are disabled in the viewer.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85744" y="3191256"/>
            <a:ext cx="2572512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85744" y="33558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68624" y="330098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under control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96056" y="3547872"/>
            <a:ext cx="2252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slips are stored outside the web root and visible only to staff; PayHere payments are confirmed server-to-server.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022848" y="3191256"/>
            <a:ext cx="2572512" cy="1060704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22848" y="335584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05728" y="3300984"/>
            <a:ext cx="2252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and audit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05728" y="3547872"/>
            <a:ext cx="2252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audit log, AI usage metering per institute, and tenant activation controls for the platform operator.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view-only protection is a strong practical deterrent; no browser-based viewer can be 100% screenshot-proof.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9452"/>
            <a:ext cx="80467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3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3260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8143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98080" y="48143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MINDSPARK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another quiz-and-Zoom wrapper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that hold up in a live demo.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941064" cy="1243584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0391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98424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1520" y="2185416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both sides of the classroom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2569464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for students and AI Copilot for teachers - not a single chatbot bolted 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54296" y="1874520"/>
            <a:ext cx="3941064" cy="1243584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54296" y="2039112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37176" y="198424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37176" y="2185416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early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837176" y="2569464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detection, an intervention timeline and a parent link so support happens before dropout.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282696"/>
            <a:ext cx="3941064" cy="1243584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44728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392424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31520" y="3593592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local operations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31520" y="3977640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slips and PayHere, monthly fee rules, ID cards, guardian fields and a white-label landing page.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54296" y="3282696"/>
            <a:ext cx="3941064" cy="1243584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54296" y="3447288"/>
            <a:ext cx="4572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37176" y="3392424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37176" y="3593592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multi-tenant SaaS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837176" y="3977640"/>
            <a:ext cx="362102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institute data on one scalable platform, with AI usage metered and visible per institute.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566160"/>
            <a:ext cx="3108960" cy="310896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D:\Mindspark\lms code\docs\mindspar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5778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02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" y="2377440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Walk through your institute flow: branding, a class, a quiz, a payment, the parent link.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999232"/>
            <a:ext cx="365760" cy="36576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1560" y="2944368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setup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classes, batches, fee rules and roles onto Mindspark - we help with the import.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" y="3511296"/>
            <a:ext cx="4617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one batch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 2-4 weeks with one batch, measure fee collection, quiz completion and interventions, then scale.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43600" y="233172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4231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teaching clearer and learning smarter.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[Name], [Role]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0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@email.com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[+94 7X XXX XXXX]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6863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Mindspark LMS - multi-tenant learning platform for institutes and tutors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2484</Words>
  <Application>Microsoft Office PowerPoint</Application>
  <PresentationFormat>On-screen Show (16:9)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Mindspark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Mindspark LMS - Client Presentation</dc:title>
  <dc:subject>Product introduction for institutes and tutors</dc:subject>
  <dc:creator>Mindspark</dc:creator>
  <cp:lastModifiedBy>CHATHURANGA</cp:lastModifiedBy>
  <cp:revision>4</cp:revision>
  <dcterms:created xsi:type="dcterms:W3CDTF">2026-10-13T10:45:51Z</dcterms:created>
  <dcterms:modified xsi:type="dcterms:W3CDTF">2026-10-13T10:56:55Z</dcterms:modified>
</cp:coreProperties>
</file>